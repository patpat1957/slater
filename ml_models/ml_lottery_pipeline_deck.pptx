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Lottery Ball State ML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XGBoost | Random Forest | LightGBM | Neural Networks</a:t>
            </a:r>
          </a:p>
          <a:p>
            <a:r>
              <a:t>Based on 20 Optimizer Strategies + Ball State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The Three Core Ball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Every ball number in every draw has THREE binary states: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1. Winner State (ON/OFF) - Was this number actually drawn?</a:t>
            </a:r>
          </a:p>
          <a:p>
            <a:pPr lvl="1">
              <a:spcAft>
                <a:spcPts val="800"/>
              </a:spcAft>
              <a:defRPr sz="1600"/>
            </a:pPr>
            <a:r>
              <a:t>  TARGET variable for ML models</a:t>
            </a:r>
          </a:p>
          <a:p>
            <a:pPr lvl="1">
              <a:spcAft>
                <a:spcPts val="800"/>
              </a:spcAft>
              <a:defRPr sz="1600"/>
            </a:pPr>
            <a:r>
              <a:t>  Source: actual draw results from Lotto Extraction API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2. Prediction State (ON/OFF) - Did our model predict this number?</a:t>
            </a:r>
          </a:p>
          <a:p>
            <a:pPr lvl="1">
              <a:spcAft>
                <a:spcPts val="800"/>
              </a:spcAft>
              <a:defRPr sz="1600"/>
            </a:pPr>
            <a:r>
              <a:t>  Tracks model output for accuracy measurement</a:t>
            </a:r>
          </a:p>
          <a:p>
            <a:pPr lvl="1">
              <a:spcAft>
                <a:spcPts val="800"/>
              </a:spcAft>
              <a:defRPr sz="1600"/>
            </a:pPr>
            <a:r>
              <a:t>  Source: model predictions / optimizer pred5 lines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3. Best Practice State (ON/OFF) - Does it pass strategy filters?</a:t>
            </a:r>
          </a:p>
          <a:p>
            <a:pPr lvl="1">
              <a:spcAft>
                <a:spcPts val="800"/>
              </a:spcAft>
              <a:defRPr sz="1600"/>
            </a:pPr>
            <a:r>
              <a:t>  Based on 20 optimizer strategies (AC, Skip, Gap, Pattern, etc.)</a:t>
            </a:r>
          </a:p>
          <a:p>
            <a:pPr lvl="1">
              <a:spcAft>
                <a:spcPts val="800"/>
              </a:spcAft>
              <a:defRPr sz="1600"/>
            </a:pPr>
            <a:r>
              <a:t>  Source: checkCombination() with 0 filter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Ball State Matrix -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WIN=ON + PREDICT=ON + BP=ON  --&gt; Perfect Hit (model + strategy aligned)</a:t>
            </a:r>
          </a:p>
          <a:p>
            <a:pPr>
              <a:spcAft>
                <a:spcPts val="800"/>
              </a:spcAft>
              <a:defRPr sz="1800"/>
            </a:pPr>
            <a:r>
              <a:t>WIN=ON + PREDICT=ON + BP=OFF --&gt; Lucky Hit (model right, strategy missed)</a:t>
            </a:r>
          </a:p>
          <a:p>
            <a:pPr>
              <a:spcAft>
                <a:spcPts val="800"/>
              </a:spcAft>
              <a:defRPr sz="1800"/>
            </a:pPr>
            <a:r>
              <a:t>WIN=ON + PREDICT=OFF + BP=ON --&gt; Missed Winner (strategy right, model missed)</a:t>
            </a:r>
          </a:p>
          <a:p>
            <a:pPr>
              <a:spcAft>
                <a:spcPts val="800"/>
              </a:spcAft>
              <a:defRPr sz="1800"/>
            </a:pPr>
            <a:r>
              <a:t>WIN=ON + PREDICT=OFF + BP=OFF -&gt; Total Miss (neither caught it)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WIN=OFF + PREDICT=ON + BP=ON --&gt; False Positive (both agreed, wrong)</a:t>
            </a:r>
          </a:p>
          <a:p>
            <a:pPr>
              <a:spcAft>
                <a:spcPts val="800"/>
              </a:spcAft>
              <a:defRPr sz="1800"/>
            </a:pPr>
            <a:r>
              <a:t>WIN=OFF + PREDICT=ON + BP=OFF -&gt; Model False Positive</a:t>
            </a:r>
          </a:p>
          <a:p>
            <a:pPr>
              <a:spcAft>
                <a:spcPts val="800"/>
              </a:spcAft>
              <a:defRPr sz="1800"/>
            </a:pPr>
            <a:r>
              <a:t>WIN=OFF + PREDICT=OFF + BP=ON --&gt; Strategy False Positive</a:t>
            </a:r>
          </a:p>
          <a:p>
            <a:pPr>
              <a:spcAft>
                <a:spcPts val="800"/>
              </a:spcAft>
              <a:defRPr sz="1800"/>
            </a:pPr>
            <a:r>
              <a:t>WIN=OFF + PREDICT=OFF + BP=OFF -&gt; True Negative (correctly excluded)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Goal: Maximize Perfect Hits, minimize Total Misses</a:t>
            </a:r>
          </a:p>
          <a:p>
            <a:pPr>
              <a:spcAft>
                <a:spcPts val="800"/>
              </a:spcAft>
              <a:defRPr sz="1800"/>
            </a:pPr>
            <a:r>
              <a:t>Track precision/recall for both prediction and best-practice states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Feature Engineering - 60+ Features from 20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FREQUENCY: overall_freq, temporal_decay_freq, positional_freq</a:t>
            </a:r>
          </a:p>
          <a:p>
            <a:pPr>
              <a:spcAft>
                <a:spcPts val="800"/>
              </a:spcAft>
              <a:defRPr sz="1800"/>
            </a:pPr>
            <a:r>
              <a:t>SKIP/RECENCY: skip_value, is_overdue, sa_level (1-5)</a:t>
            </a:r>
          </a:p>
          <a:p>
            <a:pPr>
              <a:spcAft>
                <a:spcPts val="800"/>
              </a:spcAft>
              <a:defRPr sz="1800"/>
            </a:pPr>
            <a:r>
              <a:t>HOT/COLD: is_hot, is_cold, is_warm, is_prime_digit, is_low_digit</a:t>
            </a:r>
          </a:p>
          <a:p>
            <a:pPr>
              <a:spcAft>
                <a:spcPts val="800"/>
              </a:spcAft>
              <a:defRPr sz="1800"/>
            </a:pPr>
            <a:r>
              <a:t>PAIR CO-OCCURRENCE: avg/max pair frequency with other numbers</a:t>
            </a:r>
          </a:p>
          <a:p>
            <a:pPr>
              <a:spcAft>
                <a:spcPts val="800"/>
              </a:spcAft>
              <a:defRPr sz="1800"/>
            </a:pPr>
            <a:r>
              <a:t>AC VALUE: Arithmetic Complexity (Strategy 1, ideal 4-6 for 5-num games)</a:t>
            </a:r>
          </a:p>
          <a:p>
            <a:pPr>
              <a:spcAft>
                <a:spcPts val="800"/>
              </a:spcAft>
              <a:defRPr sz="1800"/>
            </a:pPr>
            <a:r>
              <a:t>GAP ANALYSIS: min/max/avg gap, 98% conformance (Strategy 4)</a:t>
            </a:r>
          </a:p>
          <a:p>
            <a:pPr>
              <a:spcAft>
                <a:spcPts val="800"/>
              </a:spcAft>
              <a:defRPr sz="1800"/>
            </a:pPr>
            <a:r>
              <a:t>SK123: includes number from last 3 draws (Strategy 5)</a:t>
            </a:r>
          </a:p>
          <a:p>
            <a:pPr>
              <a:spcAft>
                <a:spcPts val="800"/>
              </a:spcAft>
              <a:defRPr sz="1800"/>
            </a:pPr>
            <a:r>
              <a:t>HCPL RATIO: hot/cold/prime/low counts in combo (Strategy 6)</a:t>
            </a:r>
          </a:p>
          <a:p>
            <a:pPr>
              <a:spcAft>
                <a:spcPts val="800"/>
              </a:spcAft>
              <a:defRPr sz="1800"/>
            </a:pPr>
            <a:r>
              <a:t>START/END: first/last number coverage (Strategy 7)</a:t>
            </a:r>
          </a:p>
          <a:p>
            <a:pPr>
              <a:spcAft>
                <a:spcPts val="800"/>
              </a:spcAft>
              <a:defRPr sz="1800"/>
            </a:pPr>
            <a:r>
              <a:t>PATTERN/GROUP: L/M/H zone pattern, decade grouping (Strategy 8)</a:t>
            </a:r>
          </a:p>
          <a:p>
            <a:pPr>
              <a:spcAft>
                <a:spcPts val="800"/>
              </a:spcAft>
              <a:defRPr sz="1800"/>
            </a:pPr>
            <a:r>
              <a:t>GAME STATUS: normal vs unstable detection (Strategy 10)</a:t>
            </a:r>
          </a:p>
          <a:p>
            <a:pPr>
              <a:spcAft>
                <a:spcPts val="800"/>
              </a:spcAft>
              <a:defRPr sz="1800"/>
            </a:pPr>
            <a:r>
              <a:t>TEMPORAL: day_of_week, month, week_of_year, draws_since_jackpot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Model 1: XGBoost (Recommended Primary)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Task: Binary Classification (winner_state = 0 or 1)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Key Hyperparameters:</a:t>
            </a:r>
          </a:p>
          <a:p>
            <a:pPr lvl="1">
              <a:spcAft>
                <a:spcPts val="800"/>
              </a:spcAft>
              <a:defRPr sz="1600"/>
            </a:pPr>
            <a:r>
              <a:t>  objective: binary:logistic</a:t>
            </a:r>
          </a:p>
          <a:p>
            <a:pPr lvl="1">
              <a:spcAft>
                <a:spcPts val="800"/>
              </a:spcAft>
              <a:defRPr sz="1600"/>
            </a:pPr>
            <a:r>
              <a:t>  eval_metric: auc (area under ROC curve)</a:t>
            </a:r>
          </a:p>
          <a:p>
            <a:pPr lvl="1">
              <a:spcAft>
                <a:spcPts val="800"/>
              </a:spcAft>
              <a:defRPr sz="1600"/>
            </a:pPr>
            <a:r>
              <a:t>  max_depth: 6 (prevent overfitting on random noise)</a:t>
            </a:r>
          </a:p>
          <a:p>
            <a:pPr lvl="1">
              <a:spcAft>
                <a:spcPts val="800"/>
              </a:spcAft>
              <a:defRPr sz="1600"/>
            </a:pPr>
            <a:r>
              <a:t>  learning_rate: 0.05 (slow learning = better generalization)</a:t>
            </a:r>
          </a:p>
          <a:p>
            <a:pPr lvl="1">
              <a:spcAft>
                <a:spcPts val="800"/>
              </a:spcAft>
              <a:defRPr sz="1600"/>
            </a:pPr>
            <a:r>
              <a:t>  n_estimators: 500 (with early stopping patience=50)</a:t>
            </a:r>
          </a:p>
          <a:p>
            <a:pPr lvl="1">
              <a:spcAft>
                <a:spcPts val="800"/>
              </a:spcAft>
              <a:defRPr sz="1600"/>
            </a:pPr>
            <a:r>
              <a:t>  subsample: 0.8 (row sampling per tree)</a:t>
            </a:r>
          </a:p>
          <a:p>
            <a:pPr lvl="1">
              <a:spcAft>
                <a:spcPts val="800"/>
              </a:spcAft>
              <a:defRPr sz="1600"/>
            </a:pPr>
            <a:r>
              <a:t>  colsample_bytree: 0.8 (feature sampling per tree)</a:t>
            </a:r>
          </a:p>
          <a:p>
            <a:pPr lvl="1">
              <a:spcAft>
                <a:spcPts val="800"/>
              </a:spcAft>
              <a:defRPr sz="1600"/>
            </a:pPr>
            <a:r>
              <a:t>  scale_pos_weight: auto (handles class imbalance)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Strengths: Handles missing values, feature importance ranking,</a:t>
            </a:r>
          </a:p>
          <a:p>
            <a:pPr lvl="1">
              <a:spcAft>
                <a:spcPts val="800"/>
              </a:spcAft>
              <a:defRPr sz="1600"/>
            </a:pPr>
            <a:r>
              <a:t>  native support for imbalanced classes (lottery = very imbalanced)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Model 2: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Task: Binary Classification (winner_state = 0 or 1)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Key Hyperparameters:</a:t>
            </a:r>
          </a:p>
          <a:p>
            <a:pPr lvl="1">
              <a:spcAft>
                <a:spcPts val="800"/>
              </a:spcAft>
              <a:defRPr sz="1600"/>
            </a:pPr>
            <a:r>
              <a:t>  n_estimators: 300 (number of trees)</a:t>
            </a:r>
          </a:p>
          <a:p>
            <a:pPr lvl="1">
              <a:spcAft>
                <a:spcPts val="800"/>
              </a:spcAft>
              <a:defRPr sz="1600"/>
            </a:pPr>
            <a:r>
              <a:t>  max_depth: 12 (deeper than XGBoost to capture complex interactions)</a:t>
            </a:r>
          </a:p>
          <a:p>
            <a:pPr lvl="1">
              <a:spcAft>
                <a:spcPts val="800"/>
              </a:spcAft>
              <a:defRPr sz="1600"/>
            </a:pPr>
            <a:r>
              <a:t>  min_samples_split: 10</a:t>
            </a:r>
          </a:p>
          <a:p>
            <a:pPr lvl="1">
              <a:spcAft>
                <a:spcPts val="800"/>
              </a:spcAft>
              <a:defRPr sz="1600"/>
            </a:pPr>
            <a:r>
              <a:t>  min_samples_leaf: 5</a:t>
            </a:r>
          </a:p>
          <a:p>
            <a:pPr lvl="1">
              <a:spcAft>
                <a:spcPts val="800"/>
              </a:spcAft>
              <a:defRPr sz="1600"/>
            </a:pPr>
            <a:r>
              <a:t>  max_features: sqrt (random feature subset per split)</a:t>
            </a:r>
          </a:p>
          <a:p>
            <a:pPr lvl="1">
              <a:spcAft>
                <a:spcPts val="800"/>
              </a:spcAft>
              <a:defRPr sz="1600"/>
            </a:pPr>
            <a:r>
              <a:t>  class_weight: balanced (auto-adjust for class imbalance)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Strengths: Robust to overfitting, no hyperparameter sensitivity,</a:t>
            </a:r>
          </a:p>
          <a:p>
            <a:pPr lvl="1">
              <a:spcAft>
                <a:spcPts val="800"/>
              </a:spcAft>
              <a:defRPr sz="1600"/>
            </a:pPr>
            <a:r>
              <a:t>  parallel training, good baseline model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Use Case: Ball-level classification, feature importance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Model 3: LightGBM (Fastest Training)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Task: Binary Classification + Ranking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Key Hyperparameters:</a:t>
            </a:r>
          </a:p>
          <a:p>
            <a:pPr lvl="1">
              <a:spcAft>
                <a:spcPts val="800"/>
              </a:spcAft>
              <a:defRPr sz="1600"/>
            </a:pPr>
            <a:r>
              <a:t>  objective: binary</a:t>
            </a:r>
          </a:p>
          <a:p>
            <a:pPr lvl="1">
              <a:spcAft>
                <a:spcPts val="800"/>
              </a:spcAft>
              <a:defRPr sz="1600"/>
            </a:pPr>
            <a:r>
              <a:t>  metric: auc</a:t>
            </a:r>
          </a:p>
          <a:p>
            <a:pPr lvl="1">
              <a:spcAft>
                <a:spcPts val="800"/>
              </a:spcAft>
              <a:defRPr sz="1600"/>
            </a:pPr>
            <a:r>
              <a:t>  num_leaves: 31 (leaf-wise growth = faster than depth-wise)</a:t>
            </a:r>
          </a:p>
          <a:p>
            <a:pPr lvl="1">
              <a:spcAft>
                <a:spcPts val="800"/>
              </a:spcAft>
              <a:defRPr sz="1600"/>
            </a:pPr>
            <a:r>
              <a:t>  learning_rate: 0.05</a:t>
            </a:r>
          </a:p>
          <a:p>
            <a:pPr lvl="1">
              <a:spcAft>
                <a:spcPts val="800"/>
              </a:spcAft>
              <a:defRPr sz="1600"/>
            </a:pPr>
            <a:r>
              <a:t>  n_estimators: 500</a:t>
            </a:r>
          </a:p>
          <a:p>
            <a:pPr lvl="1">
              <a:spcAft>
                <a:spcPts val="800"/>
              </a:spcAft>
              <a:defRPr sz="1600"/>
            </a:pPr>
            <a:r>
              <a:t>  feature_fraction: 0.8</a:t>
            </a:r>
          </a:p>
          <a:p>
            <a:pPr lvl="1">
              <a:spcAft>
                <a:spcPts val="800"/>
              </a:spcAft>
              <a:defRPr sz="1600"/>
            </a:pPr>
            <a:r>
              <a:t>  bagging_fraction: 0.8</a:t>
            </a:r>
          </a:p>
          <a:p>
            <a:pPr lvl="1">
              <a:spcAft>
                <a:spcPts val="800"/>
              </a:spcAft>
              <a:defRPr sz="1600"/>
            </a:pPr>
            <a:r>
              <a:t>  is_unbalance: true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Strengths: 10x faster than XGBoost on large datasets,</a:t>
            </a:r>
          </a:p>
          <a:p>
            <a:pPr lvl="1">
              <a:spcAft>
                <a:spcPts val="800"/>
              </a:spcAft>
              <a:defRPr sz="1600"/>
            </a:pPr>
            <a:r>
              <a:t>  native categorical feature support,</a:t>
            </a:r>
          </a:p>
          <a:p>
            <a:pPr lvl="1">
              <a:spcAft>
                <a:spcPts val="800"/>
              </a:spcAft>
              <a:defRPr sz="1600"/>
            </a:pPr>
            <a:r>
              <a:t>  excellent for iterative prediction with frequent retraining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Model 4: Neural Network (Deep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Architecture: Feedforward Network</a:t>
            </a:r>
          </a:p>
          <a:p>
            <a:pPr lvl="1">
              <a:spcAft>
                <a:spcPts val="800"/>
              </a:spcAft>
              <a:defRPr sz="1600"/>
            </a:pPr>
            <a:r>
              <a:t>  Input Layer: 60+ features (normalized 0-1)</a:t>
            </a:r>
          </a:p>
          <a:p>
            <a:pPr lvl="1">
              <a:spcAft>
                <a:spcPts val="800"/>
              </a:spcAft>
              <a:defRPr sz="1600"/>
            </a:pPr>
            <a:r>
              <a:t>  Hidden 1: 128 units + ReLU + Dropout(0.3)</a:t>
            </a:r>
          </a:p>
          <a:p>
            <a:pPr lvl="1">
              <a:spcAft>
                <a:spcPts val="800"/>
              </a:spcAft>
              <a:defRPr sz="1600"/>
            </a:pPr>
            <a:r>
              <a:t>  Hidden 2: 64 units + ReLU + Dropout(0.3)</a:t>
            </a:r>
          </a:p>
          <a:p>
            <a:pPr lvl="1">
              <a:spcAft>
                <a:spcPts val="800"/>
              </a:spcAft>
              <a:defRPr sz="1600"/>
            </a:pPr>
            <a:r>
              <a:t>  Hidden 3: 32 units + ReLU + Dropout(0.2)</a:t>
            </a:r>
          </a:p>
          <a:p>
            <a:pPr lvl="1">
              <a:spcAft>
                <a:spcPts val="800"/>
              </a:spcAft>
              <a:defRPr sz="1600"/>
            </a:pPr>
            <a:r>
              <a:t>  Output: 1 unit + Sigmoid (probability 0-1)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Training Config:</a:t>
            </a:r>
          </a:p>
          <a:p>
            <a:pPr lvl="1">
              <a:spcAft>
                <a:spcPts val="800"/>
              </a:spcAft>
              <a:defRPr sz="1600"/>
            </a:pPr>
            <a:r>
              <a:t>  Optimizer: Adam (lr=0.001)</a:t>
            </a:r>
          </a:p>
          <a:p>
            <a:pPr lvl="1">
              <a:spcAft>
                <a:spcPts val="800"/>
              </a:spcAft>
              <a:defRPr sz="1600"/>
            </a:pPr>
            <a:r>
              <a:t>  Loss: Binary Cross-Entropy</a:t>
            </a:r>
          </a:p>
          <a:p>
            <a:pPr lvl="1">
              <a:spcAft>
                <a:spcPts val="800"/>
              </a:spcAft>
              <a:defRPr sz="1600"/>
            </a:pPr>
            <a:r>
              <a:t>  Batch Size: 256</a:t>
            </a:r>
          </a:p>
          <a:p>
            <a:pPr lvl="1">
              <a:spcAft>
                <a:spcPts val="800"/>
              </a:spcAft>
              <a:defRPr sz="1600"/>
            </a:pPr>
            <a:r>
              <a:t>  Epochs: 100 with early stopping (patience=15)</a:t>
            </a:r>
          </a:p>
          <a:p>
            <a:pPr lvl="1">
              <a:spcAft>
                <a:spcPts val="800"/>
              </a:spcAft>
              <a:defRPr sz="1600"/>
            </a:pPr>
            <a:r>
              <a:t>  Class weights: inversely proportional to frequency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Alternative: LSTM for sequential draw pattern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End-to-End ML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Step 1: DATA EXTRACTION</a:t>
            </a:r>
          </a:p>
          <a:p>
            <a:pPr lvl="1">
              <a:spcAft>
                <a:spcPts val="800"/>
              </a:spcAft>
              <a:defRPr sz="1600"/>
            </a:pPr>
            <a:r>
              <a:t>  Lotto Extraction API --&gt; raw draw results (JSON/CSV)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Step 2: FEATURE ENGINEERING</a:t>
            </a:r>
          </a:p>
          <a:p>
            <a:pPr lvl="1">
              <a:spcAft>
                <a:spcPts val="800"/>
              </a:spcAft>
              <a:defRPr sz="1600"/>
            </a:pPr>
            <a:r>
              <a:t>  LotteryOptimizerEngine.js --&gt; 60+ features per ball per draw</a:t>
            </a:r>
          </a:p>
          <a:p>
            <a:pPr lvl="1">
              <a:spcAft>
                <a:spcPts val="800"/>
              </a:spcAft>
              <a:defRPr sz="1600"/>
            </a:pPr>
            <a:r>
              <a:t>  Ball states: winner_state, prediction_state, best_practice_state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Step 3: TRAINING</a:t>
            </a:r>
          </a:p>
          <a:p>
            <a:pPr lvl="1">
              <a:spcAft>
                <a:spcPts val="800"/>
              </a:spcAft>
              <a:defRPr sz="1600"/>
            </a:pPr>
            <a:r>
              <a:t>  PostgreSQL --&gt; pandas DataFrame --&gt; train/val/test split (70/15/15)</a:t>
            </a:r>
          </a:p>
          <a:p>
            <a:pPr lvl="1">
              <a:spcAft>
                <a:spcPts val="800"/>
              </a:spcAft>
              <a:defRPr sz="1600"/>
            </a:pPr>
            <a:r>
              <a:t>  Train XGBoost + RF + LightGBM + NN (ensemble approach)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Step 4: PREDICTION</a:t>
            </a:r>
          </a:p>
          <a:p>
            <a:pPr lvl="1">
              <a:spcAft>
                <a:spcPts val="800"/>
              </a:spcAft>
              <a:defRPr sz="1600"/>
            </a:pPr>
            <a:r>
              <a:t>  For next draw: compute features --&gt; ensemble predict --&gt; rank balls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Step 5: EVALUATION</a:t>
            </a:r>
          </a:p>
          <a:p>
            <a:pPr lvl="1">
              <a:spcAft>
                <a:spcPts val="800"/>
              </a:spcAft>
              <a:defRPr sz="1600"/>
            </a:pPr>
            <a:r>
              <a:t>  Compare predictions vs actual --&gt; update ball_states --&gt; retrain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Training &amp; Validation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CRITICAL: Time-series split (NO random shuffle!)</a:t>
            </a:r>
          </a:p>
          <a:p>
            <a:pPr lvl="1">
              <a:spcAft>
                <a:spcPts val="800"/>
              </a:spcAft>
              <a:defRPr sz="1600"/>
            </a:pPr>
            <a:r>
              <a:t>  Train: draws from 2020-01-01 to 2024-12-31</a:t>
            </a:r>
          </a:p>
          <a:p>
            <a:pPr lvl="1">
              <a:spcAft>
                <a:spcPts val="800"/>
              </a:spcAft>
              <a:defRPr sz="1600"/>
            </a:pPr>
            <a:r>
              <a:t>  Validation: draws from 2025-01-01 to 2025-03-31</a:t>
            </a:r>
          </a:p>
          <a:p>
            <a:pPr lvl="1">
              <a:spcAft>
                <a:spcPts val="800"/>
              </a:spcAft>
              <a:defRPr sz="1600"/>
            </a:pPr>
            <a:r>
              <a:t>  Test: draws from 2025-04-01 to present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Walk-Forward Validation:</a:t>
            </a:r>
          </a:p>
          <a:p>
            <a:pPr lvl="1">
              <a:spcAft>
                <a:spcPts val="800"/>
              </a:spcAft>
              <a:defRPr sz="1600"/>
            </a:pPr>
            <a:r>
              <a:t>  Train on N draws --&gt; predict draw N+1 --&gt; evaluate</a:t>
            </a:r>
          </a:p>
          <a:p>
            <a:pPr lvl="1">
              <a:spcAft>
                <a:spcPts val="800"/>
              </a:spcAft>
              <a:defRPr sz="1600"/>
            </a:pPr>
            <a:r>
              <a:t>  Slide window forward --&gt; retrain --&gt; repeat</a:t>
            </a:r>
          </a:p>
          <a:p>
            <a:pPr lvl="1">
              <a:spcAft>
                <a:spcPts val="800"/>
              </a:spcAft>
              <a:defRPr sz="1600"/>
            </a:pPr>
            <a:r>
              <a:t>  Matches walkForwardBacktest() in LotteryOptimizerEngine.js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Metrics to Track:</a:t>
            </a:r>
          </a:p>
          <a:p>
            <a:pPr lvl="1">
              <a:spcAft>
                <a:spcPts val="800"/>
              </a:spcAft>
              <a:defRPr sz="1600"/>
            </a:pPr>
            <a:r>
              <a:t>  AUC-ROC: primary metric (handles imbalanced classes)</a:t>
            </a:r>
          </a:p>
          <a:p>
            <a:pPr lvl="1">
              <a:spcAft>
                <a:spcPts val="800"/>
              </a:spcAft>
              <a:defRPr sz="1600"/>
            </a:pPr>
            <a:r>
              <a:t>  Precision@K: top-K predictions that are actual winners</a:t>
            </a:r>
          </a:p>
          <a:p>
            <a:pPr lvl="1">
              <a:spcAft>
                <a:spcPts val="800"/>
              </a:spcAft>
              <a:defRPr sz="1600"/>
            </a:pPr>
            <a:r>
              <a:t>  Hit Rate: percentage of actual winners in our prediction set</a:t>
            </a:r>
          </a:p>
          <a:p>
            <a:pPr lvl="1">
              <a:spcAft>
                <a:spcPts val="800"/>
              </a:spcAft>
              <a:defRPr sz="1600"/>
            </a:pPr>
            <a:r>
              <a:t>  Calibration: predicted probability vs actual win rate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Handling Class Imbalance (Critical for Lottery)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Problem: In a 5/69 game (Powerball), each draw has:</a:t>
            </a:r>
          </a:p>
          <a:p>
            <a:pPr lvl="1">
              <a:spcAft>
                <a:spcPts val="800"/>
              </a:spcAft>
              <a:defRPr sz="1600"/>
            </a:pPr>
            <a:r>
              <a:t>  5 winning balls (positive) vs 64 non-winning (negative)</a:t>
            </a:r>
          </a:p>
          <a:p>
            <a:pPr lvl="1">
              <a:spcAft>
                <a:spcPts val="800"/>
              </a:spcAft>
              <a:defRPr sz="1600"/>
            </a:pPr>
            <a:r>
              <a:t>  Class ratio: ~7% positive / ~93% negative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Solutions (use ALL of these):</a:t>
            </a:r>
          </a:p>
          <a:p>
            <a:pPr lvl="1">
              <a:spcAft>
                <a:spcPts val="800"/>
              </a:spcAft>
              <a:defRPr sz="1600"/>
            </a:pPr>
            <a:r>
              <a:t>  1. scale_pos_weight (XGBoost) / class_weight (RF) = auto-balance</a:t>
            </a:r>
          </a:p>
          <a:p>
            <a:pPr lvl="1">
              <a:spcAft>
                <a:spcPts val="800"/>
              </a:spcAft>
              <a:defRPr sz="1600"/>
            </a:pPr>
            <a:r>
              <a:t>  2. SMOTE oversampling of positive class during training</a:t>
            </a:r>
          </a:p>
          <a:p>
            <a:pPr lvl="1">
              <a:spcAft>
                <a:spcPts val="800"/>
              </a:spcAft>
              <a:defRPr sz="1600"/>
            </a:pPr>
            <a:r>
              <a:t>  3. Threshold tuning: don't use 0.5 cutoff, optimize F1-score threshold</a:t>
            </a:r>
          </a:p>
          <a:p>
            <a:pPr lvl="1">
              <a:spcAft>
                <a:spcPts val="800"/>
              </a:spcAft>
              <a:defRPr sz="1600"/>
            </a:pPr>
            <a:r>
              <a:t>  4. Ranking approach: rank all balls by probability, pick top-N</a:t>
            </a:r>
          </a:p>
          <a:p>
            <a:pPr lvl="1">
              <a:spcAft>
                <a:spcPts val="800"/>
              </a:spcAft>
              <a:defRPr sz="1600"/>
            </a:pPr>
            <a:r>
              <a:t>  5. Focal Loss (Neural Net): down-weight easy negatives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Evaluation: Use AUC-ROC and Precision@K, NOT accuracy</a:t>
            </a:r>
          </a:p>
          <a:p>
            <a:pPr lvl="1">
              <a:spcAft>
                <a:spcPts val="800"/>
              </a:spcAft>
              <a:defRPr sz="1600"/>
            </a:pPr>
            <a:r>
              <a:t>  (a model that always predicts 'not drawn' gets 93% accuracy!)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Expected Feature Importance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Tier 1 - Strongest Predictors (from existing optimizer):</a:t>
            </a:r>
          </a:p>
          <a:p>
            <a:pPr lvl="1">
              <a:spcAft>
                <a:spcPts val="800"/>
              </a:spcAft>
              <a:defRPr sz="1600"/>
            </a:pPr>
            <a:r>
              <a:t>  overall_freq_norm, temporal_decay_freq, skip_value</a:t>
            </a:r>
          </a:p>
          <a:p>
            <a:pPr lvl="1">
              <a:spcAft>
                <a:spcPts val="800"/>
              </a:spcAft>
              <a:defRPr sz="1600"/>
            </a:pPr>
            <a:r>
              <a:t>  is_hot, sa_level, positional_freq_norm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Tier 2 - Strategy Signals:</a:t>
            </a:r>
          </a:p>
          <a:p>
            <a:pPr lvl="1">
              <a:spcAft>
                <a:spcPts val="800"/>
              </a:spcAft>
              <a:defRPr sz="1600"/>
            </a:pPr>
            <a:r>
              <a:t>  combo_ac_in_range, combo_gap_conforms, combo_has_sk123</a:t>
            </a:r>
          </a:p>
          <a:p>
            <a:pPr lvl="1">
              <a:spcAft>
                <a:spcPts val="800"/>
              </a:spcAft>
              <a:defRPr sz="1600"/>
            </a:pPr>
            <a:r>
              <a:t>  combo_in_top27_pattern, combo_hcpl_ok</a:t>
            </a:r>
          </a:p>
          <a:p>
            <a:pPr lvl="1">
              <a:spcAft>
                <a:spcPts val="800"/>
              </a:spcAft>
              <a:defRPr sz="1600"/>
            </a:pPr>
            <a:r>
              <a:t>  avg_pair_cooccurrence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Tier 3 - Contextual:</a:t>
            </a:r>
          </a:p>
          <a:p>
            <a:pPr lvl="1">
              <a:spcAft>
                <a:spcPts val="800"/>
              </a:spcAft>
              <a:defRPr sz="1600"/>
            </a:pPr>
            <a:r>
              <a:t>  game_is_normal, combo_sum_in_range, combo_oe_is_top2</a:t>
            </a:r>
          </a:p>
          <a:p>
            <a:pPr lvl="1">
              <a:spcAft>
                <a:spcPts val="800"/>
              </a:spcAft>
              <a:defRPr sz="1600"/>
            </a:pPr>
            <a:r>
              <a:t>  tracker_weight, wf_hit_rate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Tier 4 - Temporal (weak but informative):</a:t>
            </a:r>
          </a:p>
          <a:p>
            <a:pPr lvl="1">
              <a:spcAft>
                <a:spcPts val="800"/>
              </a:spcAft>
              <a:defRPr sz="1600"/>
            </a:pPr>
            <a:r>
              <a:t>  day_of_week, month, draws_since_jackpot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Ensemble Strategy - Combining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Approach: Stacking Ensemble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Level 1 (Base Models):</a:t>
            </a:r>
          </a:p>
          <a:p>
            <a:pPr lvl="1">
              <a:spcAft>
                <a:spcPts val="800"/>
              </a:spcAft>
              <a:defRPr sz="1600"/>
            </a:pPr>
            <a:r>
              <a:t>  XGBoost --&gt; P(winner=1) for each ball</a:t>
            </a:r>
          </a:p>
          <a:p>
            <a:pPr lvl="1">
              <a:spcAft>
                <a:spcPts val="800"/>
              </a:spcAft>
              <a:defRPr sz="1600"/>
            </a:pPr>
            <a:r>
              <a:t>  Random Forest --&gt; P(winner=1) for each ball</a:t>
            </a:r>
          </a:p>
          <a:p>
            <a:pPr lvl="1">
              <a:spcAft>
                <a:spcPts val="800"/>
              </a:spcAft>
              <a:defRPr sz="1600"/>
            </a:pPr>
            <a:r>
              <a:t>  LightGBM --&gt; P(winner=1) for each ball</a:t>
            </a:r>
          </a:p>
          <a:p>
            <a:pPr lvl="1">
              <a:spcAft>
                <a:spcPts val="800"/>
              </a:spcAft>
              <a:defRPr sz="1600"/>
            </a:pPr>
            <a:r>
              <a:t>  Neural Net --&gt; P(winner=1) for each ball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Level 2 (Meta-Learner):</a:t>
            </a:r>
          </a:p>
          <a:p>
            <a:pPr lvl="1">
              <a:spcAft>
                <a:spcPts val="800"/>
              </a:spcAft>
              <a:defRPr sz="1600"/>
            </a:pPr>
            <a:r>
              <a:t>  Logistic Regression on Level-1 predictions</a:t>
            </a:r>
          </a:p>
          <a:p>
            <a:pPr lvl="1">
              <a:spcAft>
                <a:spcPts val="800"/>
              </a:spcAft>
              <a:defRPr sz="1600"/>
            </a:pPr>
            <a:r>
              <a:t>  Input: [xgb_prob, rf_prob, lgbm_prob, nn_prob]</a:t>
            </a:r>
          </a:p>
          <a:p>
            <a:pPr lvl="1">
              <a:spcAft>
                <a:spcPts val="800"/>
              </a:spcAft>
              <a:defRPr sz="1600"/>
            </a:pPr>
            <a:r>
              <a:t>  Output: final P(winner=1)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Final Selection:</a:t>
            </a:r>
          </a:p>
          <a:p>
            <a:pPr lvl="1">
              <a:spcAft>
                <a:spcPts val="800"/>
              </a:spcAft>
              <a:defRPr sz="1600"/>
            </a:pPr>
            <a:r>
              <a:t>  Rank all balls by ensemble probability</a:t>
            </a:r>
          </a:p>
          <a:p>
            <a:pPr lvl="1">
              <a:spcAft>
                <a:spcPts val="800"/>
              </a:spcAft>
              <a:defRPr sz="1600"/>
            </a:pPr>
            <a:r>
              <a:t>  Select top-N balls --&gt; apply best_practice_state filter</a:t>
            </a:r>
          </a:p>
          <a:p>
            <a:pPr lvl="1">
              <a:spcAft>
                <a:spcPts val="800"/>
              </a:spcAft>
              <a:defRPr sz="1600"/>
            </a:pPr>
            <a:r>
              <a:t>  Output: 5 prediction lines matching LotteryOptimizerEngine pred5 format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Integration with LotteryOptimizerEngine.js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Current System (rule-based):</a:t>
            </a:r>
          </a:p>
          <a:p>
            <a:pPr lvl="1">
              <a:spcAft>
                <a:spcPts val="800"/>
              </a:spcAft>
              <a:defRPr sz="1600"/>
            </a:pPr>
            <a:r>
              <a:t>  20 strategies --&gt; checkCombination() --&gt; score --&gt; pred5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ML-Enhanced System (hybrid):</a:t>
            </a:r>
          </a:p>
          <a:p>
            <a:pPr lvl="1">
              <a:spcAft>
                <a:spcPts val="800"/>
              </a:spcAft>
              <a:defRPr sz="1600"/>
            </a:pPr>
            <a:r>
              <a:t>  1. Extract features using existing strategy functions</a:t>
            </a:r>
          </a:p>
          <a:p>
            <a:pPr lvl="1">
              <a:spcAft>
                <a:spcPts val="800"/>
              </a:spcAft>
              <a:defRPr sz="1600"/>
            </a:pPr>
            <a:r>
              <a:t>  2. Feed features to trained ML models</a:t>
            </a:r>
          </a:p>
          <a:p>
            <a:pPr lvl="1">
              <a:spcAft>
                <a:spcPts val="800"/>
              </a:spcAft>
              <a:defRPr sz="1600"/>
            </a:pPr>
            <a:r>
              <a:t>  3. Get probability rankings from ensemble</a:t>
            </a:r>
          </a:p>
          <a:p>
            <a:pPr lvl="1">
              <a:spcAft>
                <a:spcPts val="800"/>
              </a:spcAft>
              <a:defRPr sz="1600"/>
            </a:pPr>
            <a:r>
              <a:t>  4. Filter through best_practice_state (existing strategies)</a:t>
            </a:r>
          </a:p>
          <a:p>
            <a:pPr lvl="1">
              <a:spcAft>
                <a:spcPts val="800"/>
              </a:spcAft>
              <a:defRPr sz="1600"/>
            </a:pPr>
            <a:r>
              <a:t>  5. Output hybrid pred5: ML-ranked + strategy-validated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API Endpoint (proposed):</a:t>
            </a:r>
          </a:p>
          <a:p>
            <a:pPr lvl="1">
              <a:spcAft>
                <a:spcPts val="800"/>
              </a:spcAft>
              <a:defRPr sz="1600"/>
            </a:pPr>
            <a:r>
              <a:t>  POST /ml/predict</a:t>
            </a:r>
          </a:p>
          <a:p>
            <a:pPr lvl="1">
              <a:spcAft>
                <a:spcPts val="800"/>
              </a:spcAft>
              <a:defRPr sz="1600"/>
            </a:pPr>
            <a:r>
              <a:t>  Body: {state_code, game_type, draw_time, model_id}</a:t>
            </a:r>
          </a:p>
          <a:p>
            <a:pPr lvl="1">
              <a:spcAft>
                <a:spcPts val="800"/>
              </a:spcAft>
              <a:defRPr sz="1600"/>
            </a:pPr>
            <a:r>
              <a:t>  Response: {predictions: [{ball, probability, rank, star_rating}]}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Feedback Loop: PredictionTracker --&gt; retrain models weekly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Quick Start - Get Running in 30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/>
            </a:pPr>
            <a:r>
              <a:t>1. Extract training data:</a:t>
            </a:r>
          </a:p>
          <a:p>
            <a:pPr lvl="1">
              <a:spcAft>
                <a:spcPts val="800"/>
              </a:spcAft>
              <a:defRPr sz="1600"/>
            </a:pPr>
            <a:r>
              <a:t>   curl API/extract?state_code=CA&amp;lottery_ids=powerball&amp;from_date=2020-01-01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2. Generate features:</a:t>
            </a:r>
          </a:p>
          <a:p>
            <a:pPr lvl="1">
              <a:spcAft>
                <a:spcPts val="800"/>
              </a:spcAft>
              <a:defRPr sz="1600"/>
            </a:pPr>
            <a:r>
              <a:t>   python ml_models/generate_ml_artifacts.py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3. Train your first model:</a:t>
            </a:r>
          </a:p>
          <a:p>
            <a:pPr lvl="1">
              <a:spcAft>
                <a:spcPts val="800"/>
              </a:spcAft>
              <a:defRPr sz="1600"/>
            </a:pPr>
            <a:r>
              <a:t>   See ml_models/example_xgboost_training.py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4. Evaluate:</a:t>
            </a:r>
          </a:p>
          <a:p>
            <a:pPr lvl="1">
              <a:spcAft>
                <a:spcPts val="800"/>
              </a:spcAft>
              <a:defRPr sz="1600"/>
            </a:pPr>
            <a:r>
              <a:t>   python ml_models/evaluate_model.py --model xgb_powerball_v1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5. Predict next draw:</a:t>
            </a:r>
          </a:p>
          <a:p>
            <a:pPr lvl="1">
              <a:spcAft>
                <a:spcPts val="800"/>
              </a:spcAft>
              <a:defRPr sz="1600"/>
            </a:pPr>
            <a:r>
              <a:t>   python ml_models/predict_next_draw.py --game powerball --state CA</a:t>
            </a:r>
          </a:p>
          <a:p>
            <a:pPr>
              <a:spcAft>
                <a:spcPts val="800"/>
              </a:spcAft>
              <a:defRPr sz="1800"/>
            </a:pPr>
          </a:p>
          <a:p>
            <a:pPr>
              <a:spcAft>
                <a:spcPts val="800"/>
              </a:spcAft>
              <a:defRPr sz="1800"/>
            </a:pPr>
            <a:r>
              <a:t>Full guide: ML_LOTTERY_MODEL_GUIDE.md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